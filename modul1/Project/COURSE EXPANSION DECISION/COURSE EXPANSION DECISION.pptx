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  <p:embeddedFont>
      <p:font typeface="Segoe U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8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8167" y="865411"/>
            <a:ext cx="672765" cy="1013755"/>
          </a:xfrm>
          <a:custGeom>
            <a:avLst/>
            <a:gdLst/>
            <a:ahLst/>
            <a:cxnLst/>
            <a:rect l="l" t="t" r="r" b="b"/>
            <a:pathLst>
              <a:path w="672765" h="101375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566408" y="7565408"/>
            <a:ext cx="1692892" cy="1692892"/>
          </a:xfrm>
          <a:custGeom>
            <a:avLst/>
            <a:gdLst/>
            <a:ahLst/>
            <a:cxnLst/>
            <a:rect l="l" t="t" r="r" b="b"/>
            <a:pathLst>
              <a:path w="1692892" h="1692892">
                <a:moveTo>
                  <a:pt x="0" y="0"/>
                </a:moveTo>
                <a:lnTo>
                  <a:pt x="1692892" y="0"/>
                </a:lnTo>
                <a:lnTo>
                  <a:pt x="1692892" y="1692892"/>
                </a:lnTo>
                <a:lnTo>
                  <a:pt x="0" y="1692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44550" y="2882245"/>
            <a:ext cx="1576987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COURSE EXPANSION DECISION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4550" y="4303945"/>
            <a:ext cx="7892355" cy="47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 VS CEFR PERFORMANCE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35588" y="1027121"/>
            <a:ext cx="3465293" cy="70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7"/>
              </a:lnSpc>
            </a:pPr>
            <a:r>
              <a:rPr lang="en-US" sz="2554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SPEAK UP</a:t>
            </a:r>
          </a:p>
          <a:p>
            <a:pPr algn="just">
              <a:lnSpc>
                <a:spcPts val="2707"/>
              </a:lnSpc>
            </a:pPr>
            <a:r>
              <a:rPr lang="en-US" sz="2554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ACADEMY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4333" y="7161171"/>
            <a:ext cx="7966174" cy="92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TAYYORLADI:  HABIBULLO XAYRULLAYEV</a:t>
            </a:r>
          </a:p>
          <a:p>
            <a:pPr marL="0" lvl="0" indent="0" algn="l">
              <a:lnSpc>
                <a:spcPts val="3646"/>
              </a:lnSpc>
              <a:spcBef>
                <a:spcPct val="0"/>
              </a:spcBef>
            </a:pPr>
            <a:r>
              <a:rPr lang="en-US" sz="343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GURUH:  F64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04658" y="849711"/>
            <a:ext cx="1350730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BIZNES MUAMMOSI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4658" y="2297745"/>
            <a:ext cx="1350730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QAYSI KURSNI KENGAYTIRISH KERAK?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0384" y="3624895"/>
            <a:ext cx="1694723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CEO YANGI GURUHNI IELTS UCHUN OCHISH KERAKMI YOKI CEFR UCHUNMI, DEGAN QARORNI QABUL QILISHI KERAK.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69639" y="5495424"/>
            <a:ext cx="5443848" cy="3086100"/>
            <a:chOff x="0" y="0"/>
            <a:chExt cx="1433771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33771" cy="812800"/>
            </a:xfrm>
            <a:custGeom>
              <a:avLst/>
              <a:gdLst/>
              <a:ahLst/>
              <a:cxnLst/>
              <a:rect l="l" t="t" r="r" b="b"/>
              <a:pathLst>
                <a:path w="1433771" h="812800">
                  <a:moveTo>
                    <a:pt x="0" y="0"/>
                  </a:moveTo>
                  <a:lnTo>
                    <a:pt x="1433771" y="0"/>
                  </a:lnTo>
                  <a:lnTo>
                    <a:pt x="143377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433771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70384" y="5867048"/>
            <a:ext cx="544384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>
                <a:solidFill>
                  <a:srgbClr val="0E1916"/>
                </a:solidFill>
                <a:latin typeface="Segoe UI Bold"/>
                <a:ea typeface="Segoe UI Bold"/>
                <a:cs typeface="Segoe UI Bold"/>
                <a:sym typeface="Segoe UI Bold"/>
              </a:rPr>
              <a:t>CHEKLANGAN RESURSLAR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384" y="6641280"/>
            <a:ext cx="5443848" cy="134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1 TA MAVJUD XONA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endParaRPr lang="en-US" sz="2499">
              <a:solidFill>
                <a:srgbClr val="0E1916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 1 TA YANGI O‘QITUVCHI UCHUN BUDJET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580212" y="5495424"/>
            <a:ext cx="5443848" cy="3086100"/>
            <a:chOff x="0" y="0"/>
            <a:chExt cx="143377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3771" cy="812800"/>
            </a:xfrm>
            <a:custGeom>
              <a:avLst/>
              <a:gdLst/>
              <a:ahLst/>
              <a:cxnLst/>
              <a:rect l="l" t="t" r="r" b="b"/>
              <a:pathLst>
                <a:path w="1433771" h="812800">
                  <a:moveTo>
                    <a:pt x="0" y="0"/>
                  </a:moveTo>
                  <a:lnTo>
                    <a:pt x="1433771" y="0"/>
                  </a:lnTo>
                  <a:lnTo>
                    <a:pt x="143377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433771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11294" y="5867048"/>
            <a:ext cx="475698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>
                <a:solidFill>
                  <a:srgbClr val="0E1916"/>
                </a:solidFill>
                <a:latin typeface="Segoe UI Bold"/>
                <a:ea typeface="Segoe UI Bold"/>
                <a:cs typeface="Segoe UI Bold"/>
                <a:sym typeface="Segoe UI Bold"/>
              </a:rPr>
              <a:t>TALABNING O‘SISHI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13343" y="6872888"/>
            <a:ext cx="4654936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IELTS VA CEFR KURSLARIGA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 TALAB ORTIB BORMOQDA.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490041" y="5495424"/>
            <a:ext cx="5443848" cy="3086100"/>
            <a:chOff x="0" y="0"/>
            <a:chExt cx="1433771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33771" cy="812800"/>
            </a:xfrm>
            <a:custGeom>
              <a:avLst/>
              <a:gdLst/>
              <a:ahLst/>
              <a:cxnLst/>
              <a:rect l="l" t="t" r="r" b="b"/>
              <a:pathLst>
                <a:path w="1433771" h="812800">
                  <a:moveTo>
                    <a:pt x="0" y="0"/>
                  </a:moveTo>
                  <a:lnTo>
                    <a:pt x="1433771" y="0"/>
                  </a:lnTo>
                  <a:lnTo>
                    <a:pt x="143377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47625"/>
              <a:ext cx="1433771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8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570083" y="5867048"/>
            <a:ext cx="349769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>
                <a:solidFill>
                  <a:srgbClr val="0E1916"/>
                </a:solidFill>
                <a:latin typeface="Segoe UI Bold"/>
                <a:ea typeface="Segoe UI Bold"/>
                <a:cs typeface="Segoe UI Bold"/>
                <a:sym typeface="Segoe UI Bold"/>
              </a:rPr>
              <a:t>BIZNES QARORI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19410" y="6852866"/>
            <a:ext cx="4698206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QAYSI KURS KENGAYTIRISH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E1916"/>
                </a:solidFill>
                <a:latin typeface="Segoe UI"/>
                <a:ea typeface="Segoe UI"/>
                <a:cs typeface="Segoe UI"/>
                <a:sym typeface="Segoe UI"/>
              </a:rPr>
              <a:t> UCHUN YAXSHIROQ IMKONIYAT BERADI?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44836" y="849711"/>
            <a:ext cx="12496354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DASHBOARDGA UMUMIY SHARH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61229" y="2278130"/>
            <a:ext cx="102968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DASHBOARD IELTS VA CEFR KURSLARINING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TALAB, DAROMAD, XARAJAT VA FOYDA KO‘RSATKICHLARINI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2024-YIL MART–OKTABR DAVRI BO‘YICHA TAQQOSLAYDI.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7987" y="4680588"/>
            <a:ext cx="2785311" cy="1642311"/>
            <a:chOff x="0" y="0"/>
            <a:chExt cx="733580" cy="4325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3580" cy="432543"/>
            </a:xfrm>
            <a:custGeom>
              <a:avLst/>
              <a:gdLst/>
              <a:ahLst/>
              <a:cxnLst/>
              <a:rect l="l" t="t" r="r" b="b"/>
              <a:pathLst>
                <a:path w="733580" h="432543">
                  <a:moveTo>
                    <a:pt x="0" y="0"/>
                  </a:moveTo>
                  <a:lnTo>
                    <a:pt x="733580" y="0"/>
                  </a:lnTo>
                  <a:lnTo>
                    <a:pt x="733580" y="432543"/>
                  </a:lnTo>
                  <a:lnTo>
                    <a:pt x="0" y="43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733580" cy="403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71600" y="5023032"/>
            <a:ext cx="186526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E1916"/>
                </a:solidFill>
                <a:latin typeface="Segoe UI Bold"/>
                <a:ea typeface="Segoe UI Bold"/>
                <a:cs typeface="Segoe UI Bold"/>
                <a:sym typeface="Segoe UI Bold"/>
              </a:rPr>
              <a:t>DAROMAD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3760" y="5708832"/>
            <a:ext cx="132184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E1916"/>
                </a:solidFill>
                <a:latin typeface="Segoe UI Bold"/>
                <a:ea typeface="Segoe UI Bold"/>
                <a:cs typeface="Segoe UI Bold"/>
                <a:sym typeface="Segoe UI Bold"/>
              </a:rPr>
              <a:t>$48 810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349572" y="4680588"/>
            <a:ext cx="2785311" cy="1642311"/>
            <a:chOff x="0" y="0"/>
            <a:chExt cx="733580" cy="4325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3580" cy="432543"/>
            </a:xfrm>
            <a:custGeom>
              <a:avLst/>
              <a:gdLst/>
              <a:ahLst/>
              <a:cxnLst/>
              <a:rect l="l" t="t" r="r" b="b"/>
              <a:pathLst>
                <a:path w="733580" h="432543">
                  <a:moveTo>
                    <a:pt x="0" y="0"/>
                  </a:moveTo>
                  <a:lnTo>
                    <a:pt x="733580" y="0"/>
                  </a:lnTo>
                  <a:lnTo>
                    <a:pt x="733580" y="432543"/>
                  </a:lnTo>
                  <a:lnTo>
                    <a:pt x="0" y="43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733580" cy="403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11158" y="4680588"/>
            <a:ext cx="2785311" cy="1642311"/>
            <a:chOff x="0" y="0"/>
            <a:chExt cx="733580" cy="4325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3580" cy="432543"/>
            </a:xfrm>
            <a:custGeom>
              <a:avLst/>
              <a:gdLst/>
              <a:ahLst/>
              <a:cxnLst/>
              <a:rect l="l" t="t" r="r" b="b"/>
              <a:pathLst>
                <a:path w="733580" h="432543">
                  <a:moveTo>
                    <a:pt x="0" y="0"/>
                  </a:moveTo>
                  <a:lnTo>
                    <a:pt x="733580" y="0"/>
                  </a:lnTo>
                  <a:lnTo>
                    <a:pt x="733580" y="432543"/>
                  </a:lnTo>
                  <a:lnTo>
                    <a:pt x="0" y="43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733580" cy="403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272744" y="4680588"/>
            <a:ext cx="2785311" cy="1642311"/>
            <a:chOff x="0" y="0"/>
            <a:chExt cx="733580" cy="4325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3580" cy="432543"/>
            </a:xfrm>
            <a:custGeom>
              <a:avLst/>
              <a:gdLst/>
              <a:ahLst/>
              <a:cxnLst/>
              <a:rect l="l" t="t" r="r" b="b"/>
              <a:pathLst>
                <a:path w="733580" h="432543">
                  <a:moveTo>
                    <a:pt x="0" y="0"/>
                  </a:moveTo>
                  <a:lnTo>
                    <a:pt x="733580" y="0"/>
                  </a:lnTo>
                  <a:lnTo>
                    <a:pt x="733580" y="432543"/>
                  </a:lnTo>
                  <a:lnTo>
                    <a:pt x="0" y="43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733580" cy="403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734329" y="4680588"/>
            <a:ext cx="2785311" cy="1642311"/>
            <a:chOff x="0" y="0"/>
            <a:chExt cx="733580" cy="4325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3580" cy="432543"/>
            </a:xfrm>
            <a:custGeom>
              <a:avLst/>
              <a:gdLst/>
              <a:ahLst/>
              <a:cxnLst/>
              <a:rect l="l" t="t" r="r" b="b"/>
              <a:pathLst>
                <a:path w="733580" h="432543">
                  <a:moveTo>
                    <a:pt x="0" y="0"/>
                  </a:moveTo>
                  <a:lnTo>
                    <a:pt x="733580" y="0"/>
                  </a:lnTo>
                  <a:lnTo>
                    <a:pt x="733580" y="432543"/>
                  </a:lnTo>
                  <a:lnTo>
                    <a:pt x="0" y="43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733580" cy="403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030532" y="5023033"/>
            <a:ext cx="152266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XARAJAT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30532" y="5708832"/>
            <a:ext cx="152266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$17 200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10227" y="5023032"/>
            <a:ext cx="120922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FOYDA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99199" y="5708832"/>
            <a:ext cx="122025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$31 610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34800" y="5023033"/>
            <a:ext cx="185348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TALABALAR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44401" y="5708832"/>
            <a:ext cx="6009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354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61754" y="4875407"/>
            <a:ext cx="2562820" cy="359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FOYDA MARJASI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30811" y="5708832"/>
            <a:ext cx="114006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64,76%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11029" y="7142048"/>
            <a:ext cx="12065943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ASOSIY MAQSAD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 VA CEFR O‘RTASIDAGI FARQNI KO‘RIB,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QAYSI KURSNI KENGAYTIRISH MAQSADGA MUVOFIQLIGINI ANIQLASH.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9974" y="3389897"/>
            <a:ext cx="3086100" cy="1753603"/>
            <a:chOff x="0" y="0"/>
            <a:chExt cx="812800" cy="4618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61854"/>
            </a:xfrm>
            <a:custGeom>
              <a:avLst/>
              <a:gdLst/>
              <a:ahLst/>
              <a:cxnLst/>
              <a:rect l="l" t="t" r="r" b="b"/>
              <a:pathLst>
                <a:path w="812800" h="46185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19207"/>
                  </a:lnTo>
                  <a:cubicBezTo>
                    <a:pt x="812800" y="430518"/>
                    <a:pt x="808307" y="441365"/>
                    <a:pt x="800309" y="449363"/>
                  </a:cubicBezTo>
                  <a:cubicBezTo>
                    <a:pt x="792311" y="457361"/>
                    <a:pt x="781464" y="461854"/>
                    <a:pt x="770153" y="461854"/>
                  </a:cubicBezTo>
                  <a:lnTo>
                    <a:pt x="42647" y="461854"/>
                  </a:lnTo>
                  <a:cubicBezTo>
                    <a:pt x="19094" y="461854"/>
                    <a:pt x="0" y="442761"/>
                    <a:pt x="0" y="41920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812800" cy="433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83800" y="3389897"/>
            <a:ext cx="3086100" cy="1753603"/>
            <a:chOff x="0" y="0"/>
            <a:chExt cx="812800" cy="4618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61854"/>
            </a:xfrm>
            <a:custGeom>
              <a:avLst/>
              <a:gdLst/>
              <a:ahLst/>
              <a:cxnLst/>
              <a:rect l="l" t="t" r="r" b="b"/>
              <a:pathLst>
                <a:path w="812800" h="461854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19207"/>
                  </a:lnTo>
                  <a:cubicBezTo>
                    <a:pt x="812800" y="430518"/>
                    <a:pt x="808307" y="441365"/>
                    <a:pt x="800309" y="449363"/>
                  </a:cubicBezTo>
                  <a:cubicBezTo>
                    <a:pt x="792311" y="457361"/>
                    <a:pt x="781464" y="461854"/>
                    <a:pt x="770153" y="461854"/>
                  </a:cubicBezTo>
                  <a:lnTo>
                    <a:pt x="42647" y="461854"/>
                  </a:lnTo>
                  <a:cubicBezTo>
                    <a:pt x="19094" y="461854"/>
                    <a:pt x="0" y="442761"/>
                    <a:pt x="0" y="41920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812800" cy="433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93750" y="3185862"/>
            <a:ext cx="10683774" cy="2712118"/>
            <a:chOff x="0" y="0"/>
            <a:chExt cx="2813833" cy="7143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13833" cy="714303"/>
            </a:xfrm>
            <a:custGeom>
              <a:avLst/>
              <a:gdLst/>
              <a:ahLst/>
              <a:cxnLst/>
              <a:rect l="l" t="t" r="r" b="b"/>
              <a:pathLst>
                <a:path w="2813833" h="714303">
                  <a:moveTo>
                    <a:pt x="0" y="0"/>
                  </a:moveTo>
                  <a:lnTo>
                    <a:pt x="2813833" y="0"/>
                  </a:lnTo>
                  <a:lnTo>
                    <a:pt x="2813833" y="714303"/>
                  </a:lnTo>
                  <a:lnTo>
                    <a:pt x="0" y="7143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2813833" cy="685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98550" y="3389897"/>
            <a:ext cx="1050617" cy="1008647"/>
            <a:chOff x="0" y="0"/>
            <a:chExt cx="276706" cy="2656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6706" cy="265652"/>
            </a:xfrm>
            <a:custGeom>
              <a:avLst/>
              <a:gdLst/>
              <a:ahLst/>
              <a:cxnLst/>
              <a:rect l="l" t="t" r="r" b="b"/>
              <a:pathLst>
                <a:path w="276706" h="265652">
                  <a:moveTo>
                    <a:pt x="138353" y="0"/>
                  </a:moveTo>
                  <a:cubicBezTo>
                    <a:pt x="61943" y="0"/>
                    <a:pt x="0" y="59468"/>
                    <a:pt x="0" y="132826"/>
                  </a:cubicBezTo>
                  <a:cubicBezTo>
                    <a:pt x="0" y="206184"/>
                    <a:pt x="61943" y="265652"/>
                    <a:pt x="138353" y="265652"/>
                  </a:cubicBezTo>
                  <a:cubicBezTo>
                    <a:pt x="214763" y="265652"/>
                    <a:pt x="276706" y="206184"/>
                    <a:pt x="276706" y="132826"/>
                  </a:cubicBezTo>
                  <a:cubicBezTo>
                    <a:pt x="276706" y="59468"/>
                    <a:pt x="214763" y="0"/>
                    <a:pt x="138353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25941" y="72530"/>
              <a:ext cx="224823" cy="168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80"/>
                </a:lnSpc>
              </a:pPr>
              <a:r>
                <a:rPr lang="en-US" sz="3000" b="1">
                  <a:solidFill>
                    <a:srgbClr val="FFFFF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98550" y="4639176"/>
            <a:ext cx="1050617" cy="1008647"/>
            <a:chOff x="0" y="0"/>
            <a:chExt cx="276706" cy="2656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6706" cy="265652"/>
            </a:xfrm>
            <a:custGeom>
              <a:avLst/>
              <a:gdLst/>
              <a:ahLst/>
              <a:cxnLst/>
              <a:rect l="l" t="t" r="r" b="b"/>
              <a:pathLst>
                <a:path w="276706" h="265652">
                  <a:moveTo>
                    <a:pt x="138353" y="0"/>
                  </a:moveTo>
                  <a:cubicBezTo>
                    <a:pt x="61943" y="0"/>
                    <a:pt x="0" y="59468"/>
                    <a:pt x="0" y="132826"/>
                  </a:cubicBezTo>
                  <a:cubicBezTo>
                    <a:pt x="0" y="206184"/>
                    <a:pt x="61943" y="265652"/>
                    <a:pt x="138353" y="265652"/>
                  </a:cubicBezTo>
                  <a:cubicBezTo>
                    <a:pt x="214763" y="265652"/>
                    <a:pt x="276706" y="206184"/>
                    <a:pt x="276706" y="132826"/>
                  </a:cubicBezTo>
                  <a:cubicBezTo>
                    <a:pt x="276706" y="59468"/>
                    <a:pt x="214763" y="0"/>
                    <a:pt x="138353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25941" y="72530"/>
              <a:ext cx="224823" cy="168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80"/>
                </a:lnSpc>
              </a:pPr>
              <a:r>
                <a:rPr lang="en-US" sz="3000" b="1">
                  <a:solidFill>
                    <a:srgbClr val="FFFFFF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2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301240" y="6117055"/>
            <a:ext cx="14695854" cy="3967702"/>
          </a:xfrm>
          <a:custGeom>
            <a:avLst/>
            <a:gdLst/>
            <a:ahLst/>
            <a:cxnLst/>
            <a:rect l="l" t="t" r="r" b="b"/>
            <a:pathLst>
              <a:path w="14695854" h="3967702">
                <a:moveTo>
                  <a:pt x="0" y="0"/>
                </a:moveTo>
                <a:lnTo>
                  <a:pt x="14695854" y="0"/>
                </a:lnTo>
                <a:lnTo>
                  <a:pt x="14695854" y="3967703"/>
                </a:lnTo>
                <a:lnTo>
                  <a:pt x="0" y="396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0" r="-890" b="-10923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749423" y="849711"/>
            <a:ext cx="706606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ASOSIY INSIGHT #1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3014" y="2249244"/>
            <a:ext cx="614169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IELTSGA TALAB TEZROQ O‘SMOQDA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7911" y="3758222"/>
            <a:ext cx="2526209" cy="104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553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IELTS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553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18 → 36 TALABA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553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+100%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06473" y="3758222"/>
            <a:ext cx="2527697" cy="104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CEFR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15 → 20 TALABA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+33%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01862" y="3418472"/>
            <a:ext cx="7865912" cy="104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NIMA SODIR BO‘LDI? 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IELTS TALABALARI 18 NAFARDAN 36 NAFARGACHA OSHDI.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4713437"/>
            <a:ext cx="8284369" cy="70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NEGA BU MUHIM?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 IELTSDAGI O‘SISH CEFRGA QARAGANDA ANCHA TEZ.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43581" y="3039452"/>
            <a:ext cx="7936521" cy="4208096"/>
          </a:xfrm>
          <a:custGeom>
            <a:avLst/>
            <a:gdLst/>
            <a:ahLst/>
            <a:cxnLst/>
            <a:rect l="l" t="t" r="r" b="b"/>
            <a:pathLst>
              <a:path w="7936521" h="4208096">
                <a:moveTo>
                  <a:pt x="0" y="0"/>
                </a:moveTo>
                <a:lnTo>
                  <a:pt x="7936522" y="0"/>
                </a:lnTo>
                <a:lnTo>
                  <a:pt x="7936522" y="4208096"/>
                </a:lnTo>
                <a:lnTo>
                  <a:pt x="0" y="420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43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197259" y="661035"/>
            <a:ext cx="706606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ASOSIY INSIGHT #2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0553" y="2015661"/>
            <a:ext cx="971038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 KO‘PROQ FOYDA KELTIRMOQDA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5939" y="3821431"/>
            <a:ext cx="7691140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NIMA SODIR BO‘LDI? 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 IELTS $22 850, CEFR $8 760 FOYDA KELTIRDI.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50734" y="5885645"/>
            <a:ext cx="5483126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NEGA MUHIM? 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 FOYDASI ANCHA YUQORI.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95570" y="8504848"/>
            <a:ext cx="1013593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XULOSA: IELTS MOLIYAVIY JIHATDAN ANCHA FOYDALIROQ.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776153" y="849711"/>
            <a:ext cx="706606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ASOSIY INSIGHT #3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4895" y="2028673"/>
            <a:ext cx="1041565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IELTS — BARQARORROQ BIZNES IMKONIYATI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99817" y="3239503"/>
            <a:ext cx="4770521" cy="2484521"/>
            <a:chOff x="0" y="0"/>
            <a:chExt cx="1256434" cy="6543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6433" cy="654359"/>
            </a:xfrm>
            <a:custGeom>
              <a:avLst/>
              <a:gdLst/>
              <a:ahLst/>
              <a:cxnLst/>
              <a:rect l="l" t="t" r="r" b="b"/>
              <a:pathLst>
                <a:path w="1256433" h="654359">
                  <a:moveTo>
                    <a:pt x="27589" y="0"/>
                  </a:moveTo>
                  <a:lnTo>
                    <a:pt x="1228845" y="0"/>
                  </a:lnTo>
                  <a:cubicBezTo>
                    <a:pt x="1244082" y="0"/>
                    <a:pt x="1256433" y="12352"/>
                    <a:pt x="1256433" y="27589"/>
                  </a:cubicBezTo>
                  <a:lnTo>
                    <a:pt x="1256433" y="626771"/>
                  </a:lnTo>
                  <a:cubicBezTo>
                    <a:pt x="1256433" y="634088"/>
                    <a:pt x="1253527" y="641105"/>
                    <a:pt x="1248353" y="646279"/>
                  </a:cubicBezTo>
                  <a:cubicBezTo>
                    <a:pt x="1243179" y="651453"/>
                    <a:pt x="1236162" y="654359"/>
                    <a:pt x="1228845" y="654359"/>
                  </a:cubicBezTo>
                  <a:lnTo>
                    <a:pt x="27589" y="654359"/>
                  </a:lnTo>
                  <a:cubicBezTo>
                    <a:pt x="12352" y="654359"/>
                    <a:pt x="0" y="642008"/>
                    <a:pt x="0" y="626771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256434" cy="62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77320" y="3665588"/>
            <a:ext cx="16155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TALAB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3117" y="4455528"/>
            <a:ext cx="374392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+100%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Segoe UI Bold"/>
              <a:ea typeface="Segoe UI Bold"/>
              <a:cs typeface="Segoe UI Bold"/>
              <a:sym typeface="Segoe UI Bold"/>
            </a:endParaRP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 IELTS TALABALARI O‘SISHI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57261" y="3239503"/>
            <a:ext cx="4770521" cy="2484521"/>
            <a:chOff x="0" y="0"/>
            <a:chExt cx="1256434" cy="6543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6433" cy="654359"/>
            </a:xfrm>
            <a:custGeom>
              <a:avLst/>
              <a:gdLst/>
              <a:ahLst/>
              <a:cxnLst/>
              <a:rect l="l" t="t" r="r" b="b"/>
              <a:pathLst>
                <a:path w="1256433" h="654359">
                  <a:moveTo>
                    <a:pt x="27589" y="0"/>
                  </a:moveTo>
                  <a:lnTo>
                    <a:pt x="1228845" y="0"/>
                  </a:lnTo>
                  <a:cubicBezTo>
                    <a:pt x="1244082" y="0"/>
                    <a:pt x="1256433" y="12352"/>
                    <a:pt x="1256433" y="27589"/>
                  </a:cubicBezTo>
                  <a:lnTo>
                    <a:pt x="1256433" y="626771"/>
                  </a:lnTo>
                  <a:cubicBezTo>
                    <a:pt x="1256433" y="634088"/>
                    <a:pt x="1253527" y="641105"/>
                    <a:pt x="1248353" y="646279"/>
                  </a:cubicBezTo>
                  <a:cubicBezTo>
                    <a:pt x="1243179" y="651453"/>
                    <a:pt x="1236162" y="654359"/>
                    <a:pt x="1228845" y="654359"/>
                  </a:cubicBezTo>
                  <a:lnTo>
                    <a:pt x="27589" y="654359"/>
                  </a:lnTo>
                  <a:cubicBezTo>
                    <a:pt x="12352" y="654359"/>
                    <a:pt x="0" y="642008"/>
                    <a:pt x="0" y="626771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256434" cy="62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199819" y="3665588"/>
            <a:ext cx="128540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FOYDA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87255" y="4455528"/>
            <a:ext cx="2110532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$22 850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Segoe UI Bold"/>
              <a:ea typeface="Segoe UI Bold"/>
              <a:cs typeface="Segoe UI Bold"/>
              <a:sym typeface="Segoe UI Bold"/>
            </a:endParaRP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 IELTS FOYDASI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827982" y="3239503"/>
            <a:ext cx="4770521" cy="2484521"/>
            <a:chOff x="0" y="0"/>
            <a:chExt cx="1256434" cy="6543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6433" cy="654359"/>
            </a:xfrm>
            <a:custGeom>
              <a:avLst/>
              <a:gdLst/>
              <a:ahLst/>
              <a:cxnLst/>
              <a:rect l="l" t="t" r="r" b="b"/>
              <a:pathLst>
                <a:path w="1256433" h="654359">
                  <a:moveTo>
                    <a:pt x="27589" y="0"/>
                  </a:moveTo>
                  <a:lnTo>
                    <a:pt x="1228845" y="0"/>
                  </a:lnTo>
                  <a:cubicBezTo>
                    <a:pt x="1244082" y="0"/>
                    <a:pt x="1256433" y="12352"/>
                    <a:pt x="1256433" y="27589"/>
                  </a:cubicBezTo>
                  <a:lnTo>
                    <a:pt x="1256433" y="626771"/>
                  </a:lnTo>
                  <a:cubicBezTo>
                    <a:pt x="1256433" y="634088"/>
                    <a:pt x="1253527" y="641105"/>
                    <a:pt x="1248353" y="646279"/>
                  </a:cubicBezTo>
                  <a:cubicBezTo>
                    <a:pt x="1243179" y="651453"/>
                    <a:pt x="1236162" y="654359"/>
                    <a:pt x="1228845" y="654359"/>
                  </a:cubicBezTo>
                  <a:lnTo>
                    <a:pt x="27589" y="654359"/>
                  </a:lnTo>
                  <a:cubicBezTo>
                    <a:pt x="12352" y="654359"/>
                    <a:pt x="0" y="642008"/>
                    <a:pt x="0" y="626771"/>
                  </a:cubicBezTo>
                  <a:lnTo>
                    <a:pt x="0" y="27589"/>
                  </a:lnTo>
                  <a:cubicBezTo>
                    <a:pt x="0" y="12352"/>
                    <a:pt x="12352" y="0"/>
                    <a:pt x="275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28575"/>
              <a:ext cx="1256434" cy="625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27982" y="4143425"/>
            <a:ext cx="4770521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IELTS → KENGAYTIRISH IMKONIYATI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81584" y="6438399"/>
            <a:ext cx="10015416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NIMA UCHUN? </a:t>
            </a:r>
          </a:p>
          <a:p>
            <a:pPr algn="l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 • TALAB TEZROQ O‘SMOQDA </a:t>
            </a:r>
          </a:p>
          <a:p>
            <a:pPr algn="l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 • FOYDA SEZILARLI DARAJADA YUQORI </a:t>
            </a:r>
          </a:p>
          <a:p>
            <a:pPr algn="l">
              <a:lnSpc>
                <a:spcPts val="318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 • YANGI GURUHNI TO‘LDIRISH IMKONIYATI KUCHLIROQ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6266" y="8917603"/>
            <a:ext cx="1389251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XULOSA: IELTS BIZNES UCHUN KUCHLIROQ O‘SISH IMKONIYATINI TAQDIM ETADI.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324600" y="661035"/>
            <a:ext cx="3169851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TAVSIYA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8552" y="2148989"/>
            <a:ext cx="1082694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IELTSNI KENGAYTIRISHNI TAVSIYA QILAMAN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4435" y="3299661"/>
            <a:ext cx="4493681" cy="2364205"/>
            <a:chOff x="0" y="0"/>
            <a:chExt cx="1183521" cy="6226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3521" cy="622671"/>
            </a:xfrm>
            <a:custGeom>
              <a:avLst/>
              <a:gdLst/>
              <a:ahLst/>
              <a:cxnLst/>
              <a:rect l="l" t="t" r="r" b="b"/>
              <a:pathLst>
                <a:path w="1183521" h="622671">
                  <a:moveTo>
                    <a:pt x="29288" y="0"/>
                  </a:moveTo>
                  <a:lnTo>
                    <a:pt x="1154233" y="0"/>
                  </a:lnTo>
                  <a:cubicBezTo>
                    <a:pt x="1170408" y="0"/>
                    <a:pt x="1183521" y="13113"/>
                    <a:pt x="1183521" y="29288"/>
                  </a:cubicBezTo>
                  <a:lnTo>
                    <a:pt x="1183521" y="593383"/>
                  </a:lnTo>
                  <a:cubicBezTo>
                    <a:pt x="1183521" y="609558"/>
                    <a:pt x="1170408" y="622671"/>
                    <a:pt x="1154233" y="622671"/>
                  </a:cubicBezTo>
                  <a:lnTo>
                    <a:pt x="29288" y="622671"/>
                  </a:lnTo>
                  <a:cubicBezTo>
                    <a:pt x="21521" y="622671"/>
                    <a:pt x="14071" y="619586"/>
                    <a:pt x="8578" y="614093"/>
                  </a:cubicBezTo>
                  <a:cubicBezTo>
                    <a:pt x="3086" y="608600"/>
                    <a:pt x="0" y="601151"/>
                    <a:pt x="0" y="593383"/>
                  </a:cubicBezTo>
                  <a:lnTo>
                    <a:pt x="0" y="29288"/>
                  </a:lnTo>
                  <a:cubicBezTo>
                    <a:pt x="0" y="21521"/>
                    <a:pt x="3086" y="14071"/>
                    <a:pt x="8578" y="8578"/>
                  </a:cubicBezTo>
                  <a:cubicBezTo>
                    <a:pt x="14071" y="3086"/>
                    <a:pt x="21521" y="0"/>
                    <a:pt x="292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183521" cy="594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97942" y="3733648"/>
            <a:ext cx="254545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01 — TALAB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8496" y="4682372"/>
            <a:ext cx="384690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IELTS TALABALARI 18 → 36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95244" y="3299661"/>
            <a:ext cx="4906149" cy="2364205"/>
            <a:chOff x="0" y="0"/>
            <a:chExt cx="1292155" cy="6226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2155" cy="622671"/>
            </a:xfrm>
            <a:custGeom>
              <a:avLst/>
              <a:gdLst/>
              <a:ahLst/>
              <a:cxnLst/>
              <a:rect l="l" t="t" r="r" b="b"/>
              <a:pathLst>
                <a:path w="1292155" h="622671">
                  <a:moveTo>
                    <a:pt x="26826" y="0"/>
                  </a:moveTo>
                  <a:lnTo>
                    <a:pt x="1265328" y="0"/>
                  </a:lnTo>
                  <a:cubicBezTo>
                    <a:pt x="1280144" y="0"/>
                    <a:pt x="1292155" y="12010"/>
                    <a:pt x="1292155" y="26826"/>
                  </a:cubicBezTo>
                  <a:lnTo>
                    <a:pt x="1292155" y="595845"/>
                  </a:lnTo>
                  <a:cubicBezTo>
                    <a:pt x="1292155" y="610661"/>
                    <a:pt x="1280144" y="622671"/>
                    <a:pt x="1265328" y="622671"/>
                  </a:cubicBezTo>
                  <a:lnTo>
                    <a:pt x="26826" y="622671"/>
                  </a:lnTo>
                  <a:cubicBezTo>
                    <a:pt x="12010" y="622671"/>
                    <a:pt x="0" y="610661"/>
                    <a:pt x="0" y="595845"/>
                  </a:cubicBezTo>
                  <a:lnTo>
                    <a:pt x="0" y="26826"/>
                  </a:lnTo>
                  <a:cubicBezTo>
                    <a:pt x="0" y="12010"/>
                    <a:pt x="12010" y="0"/>
                    <a:pt x="268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1292155" cy="594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905316" y="3299661"/>
            <a:ext cx="4493681" cy="2364205"/>
            <a:chOff x="0" y="0"/>
            <a:chExt cx="1183521" cy="6226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83521" cy="622671"/>
            </a:xfrm>
            <a:custGeom>
              <a:avLst/>
              <a:gdLst/>
              <a:ahLst/>
              <a:cxnLst/>
              <a:rect l="l" t="t" r="r" b="b"/>
              <a:pathLst>
                <a:path w="1183521" h="622671">
                  <a:moveTo>
                    <a:pt x="29288" y="0"/>
                  </a:moveTo>
                  <a:lnTo>
                    <a:pt x="1154233" y="0"/>
                  </a:lnTo>
                  <a:cubicBezTo>
                    <a:pt x="1170408" y="0"/>
                    <a:pt x="1183521" y="13113"/>
                    <a:pt x="1183521" y="29288"/>
                  </a:cubicBezTo>
                  <a:lnTo>
                    <a:pt x="1183521" y="593383"/>
                  </a:lnTo>
                  <a:cubicBezTo>
                    <a:pt x="1183521" y="609558"/>
                    <a:pt x="1170408" y="622671"/>
                    <a:pt x="1154233" y="622671"/>
                  </a:cubicBezTo>
                  <a:lnTo>
                    <a:pt x="29288" y="622671"/>
                  </a:lnTo>
                  <a:cubicBezTo>
                    <a:pt x="21521" y="622671"/>
                    <a:pt x="14071" y="619586"/>
                    <a:pt x="8578" y="614093"/>
                  </a:cubicBezTo>
                  <a:cubicBezTo>
                    <a:pt x="3086" y="608600"/>
                    <a:pt x="0" y="601151"/>
                    <a:pt x="0" y="593383"/>
                  </a:cubicBezTo>
                  <a:lnTo>
                    <a:pt x="0" y="29288"/>
                  </a:lnTo>
                  <a:cubicBezTo>
                    <a:pt x="0" y="21521"/>
                    <a:pt x="3086" y="14071"/>
                    <a:pt x="8578" y="8578"/>
                  </a:cubicBezTo>
                  <a:cubicBezTo>
                    <a:pt x="14071" y="3086"/>
                    <a:pt x="21521" y="0"/>
                    <a:pt x="292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1183521" cy="594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05796" y="3733648"/>
            <a:ext cx="452420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02 — MOLIYAVIY NATIJA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88641" y="4510338"/>
            <a:ext cx="4906149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IELTS FOYDASI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Segoe UI"/>
              <a:ea typeface="Segoe UI"/>
              <a:cs typeface="Segoe UI"/>
              <a:sym typeface="Segoe UI"/>
            </a:endParaRP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 </a:t>
            </a:r>
            <a:r>
              <a:rPr lang="en-US" sz="2499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$22 850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53457" y="3733648"/>
            <a:ext cx="253660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03 — QAROR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76419" y="4493461"/>
            <a:ext cx="316200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YANGI GURUHNI IELTS</a:t>
            </a:r>
          </a:p>
          <a:p>
            <a:pPr algn="ctr">
              <a:lnSpc>
                <a:spcPts val="265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 UCHUN OCHISH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7162" y="7072411"/>
            <a:ext cx="56974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CEO UCHUN YAKUNIY QAROR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9593" y="8021101"/>
            <a:ext cx="17828407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MAVJUD XONA VA O‘QITUVCHI RESURSINI IELTS YO‘NALISHIGA AJRATISH BIZNES UCHUN ENG YUQORI O‘SISH IMKONIYATINI YARATADI.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62534" y="849711"/>
            <a:ext cx="929803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QO‘SHIMCHA MA’LUMOT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1338" y="2449778"/>
            <a:ext cx="156171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QARORNI YANADA ANIQ QILISH UCHUN NIMANI BILISH KERAK?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351454" y="3480134"/>
            <a:ext cx="13373100" cy="1471362"/>
            <a:chOff x="0" y="0"/>
            <a:chExt cx="3522133" cy="3875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22133" cy="387519"/>
            </a:xfrm>
            <a:custGeom>
              <a:avLst/>
              <a:gdLst/>
              <a:ahLst/>
              <a:cxnLst/>
              <a:rect l="l" t="t" r="r" b="b"/>
              <a:pathLst>
                <a:path w="3522133" h="387519">
                  <a:moveTo>
                    <a:pt x="9842" y="0"/>
                  </a:moveTo>
                  <a:lnTo>
                    <a:pt x="3512292" y="0"/>
                  </a:lnTo>
                  <a:cubicBezTo>
                    <a:pt x="3514902" y="0"/>
                    <a:pt x="3517405" y="1037"/>
                    <a:pt x="3519251" y="2883"/>
                  </a:cubicBezTo>
                  <a:cubicBezTo>
                    <a:pt x="3521097" y="4728"/>
                    <a:pt x="3522133" y="7231"/>
                    <a:pt x="3522133" y="9842"/>
                  </a:cubicBezTo>
                  <a:lnTo>
                    <a:pt x="3522133" y="377678"/>
                  </a:lnTo>
                  <a:cubicBezTo>
                    <a:pt x="3522133" y="380288"/>
                    <a:pt x="3521097" y="382791"/>
                    <a:pt x="3519251" y="384637"/>
                  </a:cubicBezTo>
                  <a:cubicBezTo>
                    <a:pt x="3517405" y="386482"/>
                    <a:pt x="3514902" y="387519"/>
                    <a:pt x="3512292" y="387519"/>
                  </a:cubicBezTo>
                  <a:lnTo>
                    <a:pt x="9842" y="387519"/>
                  </a:lnTo>
                  <a:cubicBezTo>
                    <a:pt x="7231" y="387519"/>
                    <a:pt x="4728" y="386482"/>
                    <a:pt x="2883" y="384637"/>
                  </a:cubicBezTo>
                  <a:cubicBezTo>
                    <a:pt x="1037" y="382791"/>
                    <a:pt x="0" y="380288"/>
                    <a:pt x="0" y="377678"/>
                  </a:cubicBezTo>
                  <a:lnTo>
                    <a:pt x="0" y="9842"/>
                  </a:lnTo>
                  <a:cubicBezTo>
                    <a:pt x="0" y="7231"/>
                    <a:pt x="1037" y="4728"/>
                    <a:pt x="2883" y="2883"/>
                  </a:cubicBezTo>
                  <a:cubicBezTo>
                    <a:pt x="4728" y="1037"/>
                    <a:pt x="7231" y="0"/>
                    <a:pt x="98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3522133" cy="358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96103" y="3749623"/>
            <a:ext cx="12912109" cy="104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01 — XONA SIG‘IMI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YANGI IELTS GURUHI UCHUN MAVJUD XONA MAKSIMAL NECHTA TALABANI QABUL QILA OLADI?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351454" y="5143500"/>
            <a:ext cx="13373100" cy="1452813"/>
            <a:chOff x="0" y="0"/>
            <a:chExt cx="3522133" cy="3826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22133" cy="382634"/>
            </a:xfrm>
            <a:custGeom>
              <a:avLst/>
              <a:gdLst/>
              <a:ahLst/>
              <a:cxnLst/>
              <a:rect l="l" t="t" r="r" b="b"/>
              <a:pathLst>
                <a:path w="3522133" h="382634">
                  <a:moveTo>
                    <a:pt x="9842" y="0"/>
                  </a:moveTo>
                  <a:lnTo>
                    <a:pt x="3512292" y="0"/>
                  </a:lnTo>
                  <a:cubicBezTo>
                    <a:pt x="3514902" y="0"/>
                    <a:pt x="3517405" y="1037"/>
                    <a:pt x="3519251" y="2883"/>
                  </a:cubicBezTo>
                  <a:cubicBezTo>
                    <a:pt x="3521097" y="4728"/>
                    <a:pt x="3522133" y="7231"/>
                    <a:pt x="3522133" y="9842"/>
                  </a:cubicBezTo>
                  <a:lnTo>
                    <a:pt x="3522133" y="372792"/>
                  </a:lnTo>
                  <a:cubicBezTo>
                    <a:pt x="3522133" y="375402"/>
                    <a:pt x="3521097" y="377906"/>
                    <a:pt x="3519251" y="379751"/>
                  </a:cubicBezTo>
                  <a:cubicBezTo>
                    <a:pt x="3517405" y="381597"/>
                    <a:pt x="3514902" y="382634"/>
                    <a:pt x="3512292" y="382634"/>
                  </a:cubicBezTo>
                  <a:lnTo>
                    <a:pt x="9842" y="382634"/>
                  </a:lnTo>
                  <a:cubicBezTo>
                    <a:pt x="7231" y="382634"/>
                    <a:pt x="4728" y="381597"/>
                    <a:pt x="2883" y="379751"/>
                  </a:cubicBezTo>
                  <a:cubicBezTo>
                    <a:pt x="1037" y="377906"/>
                    <a:pt x="0" y="375402"/>
                    <a:pt x="0" y="372792"/>
                  </a:cubicBezTo>
                  <a:lnTo>
                    <a:pt x="0" y="9842"/>
                  </a:lnTo>
                  <a:cubicBezTo>
                    <a:pt x="0" y="7231"/>
                    <a:pt x="1037" y="4728"/>
                    <a:pt x="2883" y="2883"/>
                  </a:cubicBezTo>
                  <a:cubicBezTo>
                    <a:pt x="4728" y="1037"/>
                    <a:pt x="7231" y="0"/>
                    <a:pt x="98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3522133" cy="3540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351454" y="6786813"/>
            <a:ext cx="13373100" cy="1512971"/>
            <a:chOff x="0" y="0"/>
            <a:chExt cx="3522133" cy="3984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22133" cy="398478"/>
            </a:xfrm>
            <a:custGeom>
              <a:avLst/>
              <a:gdLst/>
              <a:ahLst/>
              <a:cxnLst/>
              <a:rect l="l" t="t" r="r" b="b"/>
              <a:pathLst>
                <a:path w="3522133" h="398478">
                  <a:moveTo>
                    <a:pt x="9842" y="0"/>
                  </a:moveTo>
                  <a:lnTo>
                    <a:pt x="3512292" y="0"/>
                  </a:lnTo>
                  <a:cubicBezTo>
                    <a:pt x="3514902" y="0"/>
                    <a:pt x="3517405" y="1037"/>
                    <a:pt x="3519251" y="2883"/>
                  </a:cubicBezTo>
                  <a:cubicBezTo>
                    <a:pt x="3521097" y="4728"/>
                    <a:pt x="3522133" y="7231"/>
                    <a:pt x="3522133" y="9842"/>
                  </a:cubicBezTo>
                  <a:lnTo>
                    <a:pt x="3522133" y="388636"/>
                  </a:lnTo>
                  <a:cubicBezTo>
                    <a:pt x="3522133" y="391247"/>
                    <a:pt x="3521097" y="393750"/>
                    <a:pt x="3519251" y="395595"/>
                  </a:cubicBezTo>
                  <a:cubicBezTo>
                    <a:pt x="3517405" y="397441"/>
                    <a:pt x="3514902" y="398478"/>
                    <a:pt x="3512292" y="398478"/>
                  </a:cubicBezTo>
                  <a:lnTo>
                    <a:pt x="9842" y="398478"/>
                  </a:lnTo>
                  <a:cubicBezTo>
                    <a:pt x="7231" y="398478"/>
                    <a:pt x="4728" y="397441"/>
                    <a:pt x="2883" y="395595"/>
                  </a:cubicBezTo>
                  <a:cubicBezTo>
                    <a:pt x="1037" y="393750"/>
                    <a:pt x="0" y="391247"/>
                    <a:pt x="0" y="388636"/>
                  </a:cubicBezTo>
                  <a:lnTo>
                    <a:pt x="0" y="9842"/>
                  </a:lnTo>
                  <a:cubicBezTo>
                    <a:pt x="0" y="7231"/>
                    <a:pt x="1037" y="4728"/>
                    <a:pt x="2883" y="2883"/>
                  </a:cubicBezTo>
                  <a:cubicBezTo>
                    <a:pt x="4728" y="1037"/>
                    <a:pt x="7231" y="0"/>
                    <a:pt x="98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3522133" cy="369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194745" y="5465846"/>
            <a:ext cx="11898511" cy="70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02 — O‘QITUVCHI IMKONIYATI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IELTS BO‘YICHA YANGI GURUHNI OLIB BORADIGAN O‘QITUVCHI MAVJUDMI?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96103" y="6977313"/>
            <a:ext cx="12912109" cy="104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03 — REAL TALAB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2554" b="1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HOZIRDA YANGI IELTS GURUHIGA YOZILISHGA TAYYOR BO‘LGAN NECHTA TALABA BOR?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58" y="8833184"/>
            <a:ext cx="18252442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DASHBOARD BIZNES YO‘NALISHINI KO‘RSATADI, AMMO YAKUNIY QARORNI REAL TALAB VA MAVJUD RESURSLAR BILAN TASDIQLASH KERAK.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463</Words>
  <Application>Microsoft Office PowerPoint</Application>
  <PresentationFormat>Custom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 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EXPANSION DECISION</dc:title>
  <cp:lastModifiedBy>Habibullo Xayrullayev</cp:lastModifiedBy>
  <cp:revision>2</cp:revision>
  <dcterms:created xsi:type="dcterms:W3CDTF">2006-08-16T00:00:00Z</dcterms:created>
  <dcterms:modified xsi:type="dcterms:W3CDTF">2026-09-08T11:45:05Z</dcterms:modified>
  <dc:identifier>DAHUlgBQuNQ</dc:identifier>
</cp:coreProperties>
</file>